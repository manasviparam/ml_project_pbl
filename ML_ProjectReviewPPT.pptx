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2A4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93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8913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Normal</c:v>
                  </c:pt>
                  <c:pt idx="1">
                    <c:v>DoS</c:v>
                  </c:pt>
                  <c:pt idx="2">
                    <c:v>Probe</c:v>
                  </c:pt>
                  <c:pt idx="3">
                    <c:v>R2L</c:v>
                  </c:pt>
                  <c:pt idx="4">
                    <c:v>U2R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55490</c:v>
                </c:pt>
                <c:pt idx="1">
                  <c:v>37890</c:v>
                </c:pt>
                <c:pt idx="2">
                  <c:v>9574</c:v>
                </c:pt>
                <c:pt idx="3">
                  <c:v>801</c:v>
                </c:pt>
                <c:pt idx="4">
                  <c:v>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7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0.0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27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ETC</c:v>
                  </c:pt>
                  <c:pt idx="1">
                    <c:v>RF</c:v>
                  </c:pt>
                  <c:pt idx="2">
                    <c:v>DT</c:v>
                  </c:pt>
                  <c:pt idx="3">
                    <c:v>KNN</c:v>
                  </c:pt>
                  <c:pt idx="4">
                    <c:v>MLP</c:v>
                  </c:pt>
                  <c:pt idx="5">
                    <c:v>SVM</c:v>
                  </c:pt>
                  <c:pt idx="6">
                    <c:v>LR</c:v>
                  </c:pt>
                  <c:pt idx="7">
                    <c:v>NB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99.51</c:v>
                </c:pt>
                <c:pt idx="1">
                  <c:v>99.47</c:v>
                </c:pt>
                <c:pt idx="2">
                  <c:v>99.18</c:v>
                </c:pt>
                <c:pt idx="3">
                  <c:v>98.57</c:v>
                </c:pt>
                <c:pt idx="4">
                  <c:v>98.03</c:v>
                </c:pt>
                <c:pt idx="5">
                  <c:v>89.31</c:v>
                </c:pt>
                <c:pt idx="6">
                  <c:v>87.05</c:v>
                </c:pt>
                <c:pt idx="7">
                  <c:v>54.11</c:v>
                </c:pt>
              </c:numCache>
            </c:numRef>
          </c:val>
        </c:ser>
        <c:dLbls>
          <c:numFmt formatCode="0.0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A27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7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8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822960"/>
            <a:ext cx="146304" cy="146304"/>
          </a:xfrm>
          <a:prstGeom prst="ellipse">
            <a:avLst/>
          </a:prstGeom>
          <a:solidFill>
            <a:srgbClr val="2E93B8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1554480"/>
            <a:ext cx="146304" cy="146304"/>
          </a:xfrm>
          <a:prstGeom prst="ellipse">
            <a:avLst/>
          </a:prstGeom>
          <a:solidFill>
            <a:srgbClr val="2E93B8"/>
          </a:solidFill>
          <a:ln/>
        </p:spPr>
      </p:sp>
      <p:sp>
        <p:nvSpPr>
          <p:cNvPr id="5" name="Shape 3"/>
          <p:cNvSpPr/>
          <p:nvPr/>
        </p:nvSpPr>
        <p:spPr>
          <a:xfrm>
            <a:off x="10241280" y="2011680"/>
            <a:ext cx="146304" cy="146304"/>
          </a:xfrm>
          <a:prstGeom prst="ellipse">
            <a:avLst/>
          </a:prstGeom>
          <a:solidFill>
            <a:srgbClr val="2E93B8"/>
          </a:solidFill>
          <a:ln/>
        </p:spPr>
      </p:sp>
      <p:sp>
        <p:nvSpPr>
          <p:cNvPr id="6" name="Shape 4"/>
          <p:cNvSpPr/>
          <p:nvPr/>
        </p:nvSpPr>
        <p:spPr>
          <a:xfrm>
            <a:off x="11155680" y="2743200"/>
            <a:ext cx="146304" cy="146304"/>
          </a:xfrm>
          <a:prstGeom prst="ellipse">
            <a:avLst/>
          </a:prstGeom>
          <a:solidFill>
            <a:srgbClr val="2E93B8"/>
          </a:solidFill>
          <a:ln/>
        </p:spPr>
      </p:sp>
      <p:sp>
        <p:nvSpPr>
          <p:cNvPr id="7" name="Shape 5"/>
          <p:cNvSpPr/>
          <p:nvPr/>
        </p:nvSpPr>
        <p:spPr>
          <a:xfrm>
            <a:off x="9875520" y="3291840"/>
            <a:ext cx="146304" cy="146304"/>
          </a:xfrm>
          <a:prstGeom prst="ellipse">
            <a:avLst/>
          </a:prstGeom>
          <a:solidFill>
            <a:srgbClr val="2E93B8"/>
          </a:solidFill>
          <a:ln/>
        </p:spPr>
      </p:sp>
      <p:sp>
        <p:nvSpPr>
          <p:cNvPr id="8" name="Shape 6"/>
          <p:cNvSpPr/>
          <p:nvPr/>
        </p:nvSpPr>
        <p:spPr>
          <a:xfrm>
            <a:off x="11612880" y="3840480"/>
            <a:ext cx="146304" cy="146304"/>
          </a:xfrm>
          <a:prstGeom prst="ellipse">
            <a:avLst/>
          </a:prstGeom>
          <a:solidFill>
            <a:srgbClr val="2E93B8"/>
          </a:solidFill>
          <a:ln/>
        </p:spPr>
      </p:sp>
      <p:sp>
        <p:nvSpPr>
          <p:cNvPr id="9" name="Shape 7"/>
          <p:cNvSpPr/>
          <p:nvPr/>
        </p:nvSpPr>
        <p:spPr>
          <a:xfrm>
            <a:off x="10680192" y="896112"/>
            <a:ext cx="749808" cy="658368"/>
          </a:xfrm>
          <a:prstGeom prst="line">
            <a:avLst/>
          </a:prstGeom>
          <a:noFill/>
          <a:ln w="15875">
            <a:solidFill>
              <a:srgbClr val="274B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87584" y="969264"/>
            <a:ext cx="219456" cy="1042416"/>
          </a:xfrm>
          <a:prstGeom prst="line">
            <a:avLst/>
          </a:prstGeom>
          <a:noFill/>
          <a:ln w="15875">
            <a:solidFill>
              <a:srgbClr val="274B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387584" y="2157984"/>
            <a:ext cx="768096" cy="585216"/>
          </a:xfrm>
          <a:prstGeom prst="line">
            <a:avLst/>
          </a:prstGeom>
          <a:noFill/>
          <a:ln w="15875">
            <a:solidFill>
              <a:srgbClr val="274B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21824" y="2103120"/>
            <a:ext cx="219456" cy="1188720"/>
          </a:xfrm>
          <a:prstGeom prst="line">
            <a:avLst/>
          </a:prstGeom>
          <a:noFill/>
          <a:ln w="15875">
            <a:solidFill>
              <a:srgbClr val="274B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228832" y="2798064"/>
            <a:ext cx="384048" cy="1042416"/>
          </a:xfrm>
          <a:prstGeom prst="line">
            <a:avLst/>
          </a:prstGeom>
          <a:noFill/>
          <a:ln w="15875">
            <a:solidFill>
              <a:srgbClr val="274B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777240"/>
            <a:ext cx="356616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 ·  MACHINE LEARNING PROJECT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13716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Intrusion Detection</a:t>
            </a:r>
            <a:endParaRPr lang="en-US" sz="4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28600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CF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Random Forest and Gradient-Boosted Trees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58368" y="3246120"/>
            <a:ext cx="4754880" cy="0"/>
          </a:xfrm>
          <a:prstGeom prst="line">
            <a:avLst/>
          </a:prstGeom>
          <a:noFill/>
          <a:ln w="19050">
            <a:solidFill>
              <a:srgbClr val="2C4E7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352044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
</a:t>
            </a:r>
            <a:endParaRPr lang="en-US" sz="125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 Manasvi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2520030072
</a:t>
            </a:r>
            <a:endParaRPr lang="en-US" sz="125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Anand Akshita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No. 2520030043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352044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
</a:t>
            </a:r>
            <a:endParaRPr lang="en-US" sz="125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Shaik Asif</a:t>
            </a:r>
            <a:endParaRPr lang="en-US" sz="12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CSE
</a:t>
            </a:r>
            <a:endParaRPr lang="en-US" sz="125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Koneru Lakshmaiah Education Foundation
</a:t>
            </a:r>
            <a:endParaRPr lang="en-US" sz="1250" dirty="0"/>
          </a:p>
          <a:p>
            <a:pPr indent="0" marL="0">
              <a:buNone/>
            </a:pPr>
            <a:r>
              <a:rPr lang="en-US" sz="1200" dirty="0">
                <a:solidFill>
                  <a:srgbClr val="9FB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  ·  A.Y. 2026–27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Signature-Based IDS Falls Short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7492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Detection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240280"/>
            <a:ext cx="4480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IDS monitors incoming/outgoing traffic to flag denial-of-service, unauthorized access, and scanning activity.</a:t>
            </a:r>
            <a:endParaRPr lang="en-US" sz="14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Misuse (signature) detection matches traffic against a database of known attack signatures — fast and accurate for known threats.</a:t>
            </a:r>
            <a:endParaRPr lang="en-US" sz="14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cannot recognize novel or zero-day attacks whose signatures do not yet exist.</a:t>
            </a:r>
            <a:endParaRPr lang="en-US" sz="14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sets must be updated by hand constantly; attackers keep mutating behaviour to dodge fixed rules.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897880" y="1554480"/>
            <a:ext cx="57150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72200" y="1856232"/>
            <a:ext cx="182880" cy="18288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175564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Escalating attacks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157984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Cyber-attacks are rising rapidly with cloud adoption, exposing networks to severe intrusive activity.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97880" y="3044952"/>
            <a:ext cx="57150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3346704"/>
            <a:ext cx="182880" cy="18288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92240" y="324612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Costly failures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64845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Breaches cause monetary damage and data loss across critical IT infrastructure.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897880" y="4535424"/>
            <a:ext cx="57150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4837176"/>
            <a:ext cx="182880" cy="18288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47365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gaps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513892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Misjudgement, false alarms, and lack of real-time response limit legacy systems.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6053328"/>
            <a:ext cx="5715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let Machine Learning learn normal vs. attack behaviour from data — adapting to new threats instead of relying on fixed rules.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of the Project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accurate, automatic intrusion classifier and directly compare two supervised ensemble algorithms on the NSL-KDD benchmark.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32888"/>
            <a:ext cx="384048" cy="38404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53288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 traffic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990088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separate normal connections from intrusive ones using traffic features — not hand-written rules.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224028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253288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253288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ensembles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2990088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Random Forest (bagging) and Gradient-Boosted Trees (boosting) on identical data and features.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407408"/>
            <a:ext cx="384048" cy="38404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40740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Head-to-head compare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371600" y="4864608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both on the same metrics to decide which performs better for network intrusion detection.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72200" y="411480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440740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46520" y="4407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440740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&amp; fast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995160" y="4864608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pipeline that turns raw traffic into dependable security signals in a fast, repeatable way.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NSL-KDD — Why It Replaced KDD'99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62356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556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is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refined benchmark of network connection records (Tavallaee et al., 2009) derived from the classic KDD'99 dataset.</a:t>
            </a:r>
            <a:endParaRPr lang="en-US" sz="14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record has 41 features + a label, built from DARPA'98 tcpdump traffic.</a:t>
            </a:r>
            <a:endParaRPr lang="en-US" sz="14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to fix two statistical flaws that made KDD'99 evaluations unreliable.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Fixes over KDD'99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5720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massive record redundancy that biased learners toward frequent attacks.</a:t>
            </a:r>
            <a:endParaRPr lang="en-US" sz="14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Re-sampled by difficulty so classifier accuracies spread across a wider, more meaningful range.</a:t>
            </a:r>
            <a:endParaRPr lang="en-US" sz="14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Reasonably sized train/test sets → consistent, comparable experiments.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5727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two KDD'99 flaws (origin paper)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2057400"/>
            <a:ext cx="521208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583680" y="2221992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9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~78%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8321040" y="2313432"/>
            <a:ext cx="0" cy="713232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58200" y="22402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KDD'99 TRAIN records were duplicates — learners biased to frequent records, ignoring rare U2R/R2L attacks.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0" y="3383280"/>
            <a:ext cx="521208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583680" y="3547872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9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~75%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8321040" y="3639312"/>
            <a:ext cx="0" cy="713232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58200" y="356616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KDD'99 TEST records were duplicates — inflating results toward methods good on common records.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0" y="4709160"/>
            <a:ext cx="5212080" cy="1207008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583680" y="4873752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9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~86–98%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8321040" y="4965192"/>
            <a:ext cx="0" cy="713232"/>
          </a:xfrm>
          <a:prstGeom prst="line">
            <a:avLst/>
          </a:prstGeom>
          <a:noFill/>
          <a:ln w="12700">
            <a:solidFill>
              <a:srgbClr val="D9E2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58200" y="48920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records were correctly labelled by all 21 test learners → the set was simply too easy.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&amp; Attack Classes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55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 features per connection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12848"/>
            <a:ext cx="4526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Basic:  </a:t>
            </a:r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protocol_type (tcp/udp/icmp), service (~70), flag (11), duration, src_bytes, dst_bytes, land, wrong_fragment
</a:t>
            </a:r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Content:  </a:t>
            </a:r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hot, num_failed_logins, logged_in, root_shell, num_root — capture R2L / U2R payload behaviour
</a:t>
            </a:r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(2-sec window):  </a:t>
            </a:r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count, srv_count, serror_rate, same_srv_rate, diff_srv_rate
</a:t>
            </a:r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Host-based:  </a:t>
            </a:r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dst_host_count, dst_host_srv_count, dst_host_same_srv_rate …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617720"/>
            <a:ext cx="4526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→ encoded  ·  Numeric → scaled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02920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target classes:  </a:t>
            </a:r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Normal, DoS, Probe, R2L, U2R — the four attack families defined in the origin paper.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852160" y="157276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distribution — 70% train split (103,801 records)</a:t>
            </a:r>
            <a:endParaRPr lang="en-US" sz="15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852160" y="2011680"/>
          <a:ext cx="5806440" cy="2788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5852160" y="4983480"/>
            <a:ext cx="5806440" cy="1051560"/>
          </a:xfrm>
          <a:prstGeom prst="roundRect">
            <a:avLst>
              <a:gd name="adj" fmla="val 7826"/>
            </a:avLst>
          </a:prstGeom>
          <a:solidFill>
            <a:srgbClr val="FCEEE0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080760" y="5102352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 imbalance.  </a:t>
            </a:r>
            <a:pPr indent="0" marL="0">
              <a:buNone/>
            </a:pPr>
            <a:r>
              <a:rPr lang="en-US" sz="1250" dirty="0">
                <a:solidFill>
                  <a:srgbClr val="7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U2R has only 46 records vs. 55,490 Normal (~0.04%). This is exactly why raw accuracy is a misleading metric for this dataset.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Study — ML Classifiers on NSL-KDD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Abrar, Ayub, Masoodi &amp; Bamhdi (ICOSEC 2020). </a:t>
            </a:r>
            <a:pPr indent="0" marL="0">
              <a:buNone/>
            </a:pPr>
            <a:r>
              <a:rPr lang="en-US" sz="15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empirical study applying eight ML classifiers to NSL-KDD, using feature-subset selection to cut dimensionality and speed up training.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57784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468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Their approach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2608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Pre-processed NSL-KDD: replaced symbolic attributes, removed irrelevant features to reduce complexity.</a:t>
            </a:r>
            <a:endParaRPr lang="en-US" sz="14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four different feature subsets from the 41 features.</a:t>
            </a:r>
            <a:endParaRPr lang="en-US" sz="14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Trained/tested on ~111,386 and ~37,129 instances.</a:t>
            </a:r>
            <a:endParaRPr lang="en-US" sz="14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per attack class (DoS, Probe, R2L, U2R) on accuracy, precision, recall, F1.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09360" y="2286000"/>
            <a:ext cx="5303520" cy="37033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8368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classifiers benchmarked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944368"/>
            <a:ext cx="68580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SVM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29443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 (RBF)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098280" y="2944368"/>
            <a:ext cx="68580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875520" y="294436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Neighbour (k=5)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602736"/>
            <a:ext cx="68580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36027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098280" y="3602736"/>
            <a:ext cx="68580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NB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875520" y="36027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Naïve Bayes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4261104"/>
            <a:ext cx="68580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360920" y="42611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Perceptron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098280" y="4261104"/>
            <a:ext cx="685800" cy="457200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875520" y="426110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4919472"/>
            <a:ext cx="685800" cy="457200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ETC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49194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Extra-Tree Classifier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9098280" y="4919472"/>
            <a:ext cx="685800" cy="457200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0" y="49194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583680" y="55046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ensembles (RF, ETC, DT) — highlighted — dominated the results.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Benchmark Results — Accuracy by Classifier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1790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across the four feature subsets (Attribute Sets 1–4). Tree ensembles cleared 99% consistently.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48840"/>
          <a:ext cx="6400800" cy="3703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8704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Set 1 accuracy (%)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178040" y="2148840"/>
            <a:ext cx="4434840" cy="4023360"/>
          </a:xfrm>
          <a:prstGeom prst="roundRect">
            <a:avLst>
              <a:gd name="adj" fmla="val 2045"/>
            </a:avLst>
          </a:prstGeom>
          <a:solidFill>
            <a:srgbClr val="0E2A47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452360" y="23591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452360" y="2816352"/>
            <a:ext cx="3977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RF, ETC, DT &gt; 99%  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all four subsets — they handle unevenly dispersed data best.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detected best  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(well-represented); U2R worst — too few instances.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weakest (~54%)  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independence assumption hurts on correlated features.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focus: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ensembles — bagging (RF) vs. boosting (GBT).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84832"/>
            <a:ext cx="384048" cy="38404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103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6517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remove duplicate connection records.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42232" y="2619756"/>
            <a:ext cx="274320" cy="201168"/>
          </a:xfrm>
          <a:prstGeom prst="rightArrow">
            <a:avLst/>
          </a:prstGeom>
          <a:solidFill>
            <a:srgbClr val="2E93B8"/>
          </a:solidFill>
          <a:ln/>
        </p:spPr>
      </p:sp>
      <p:sp>
        <p:nvSpPr>
          <p:cNvPr id="10" name="Shape 8"/>
          <p:cNvSpPr/>
          <p:nvPr/>
        </p:nvSpPr>
        <p:spPr>
          <a:xfrm>
            <a:off x="4434840" y="182880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90872" y="208483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90872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2103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</a:t>
            </a:r>
            <a:endParaRPr lang="en-US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4727448" y="26517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categorical features — protocol_type, service, flag — to numeric form.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28432" y="2619756"/>
            <a:ext cx="274320" cy="201168"/>
          </a:xfrm>
          <a:prstGeom prst="rightArrow">
            <a:avLst/>
          </a:prstGeom>
          <a:solidFill>
            <a:srgbClr val="2E93B8"/>
          </a:solidFill>
          <a:ln/>
        </p:spPr>
      </p:sp>
      <p:sp>
        <p:nvSpPr>
          <p:cNvPr id="16" name="Shape 14"/>
          <p:cNvSpPr/>
          <p:nvPr/>
        </p:nvSpPr>
        <p:spPr>
          <a:xfrm>
            <a:off x="8321040" y="182880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77072" y="2084832"/>
            <a:ext cx="384048" cy="38404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577072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098280" y="2103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scaling</a:t>
            </a:r>
            <a:endParaRPr lang="en-US" sz="1650" dirty="0"/>
          </a:p>
        </p:txBody>
      </p:sp>
      <p:sp>
        <p:nvSpPr>
          <p:cNvPr id="20" name="Text 18"/>
          <p:cNvSpPr txBox="1"/>
          <p:nvPr/>
        </p:nvSpPr>
        <p:spPr>
          <a:xfrm>
            <a:off x="8613648" y="26517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numeric features (bytes, counts, rates) so no feature dominates.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04672" y="423367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04672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4251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endParaRPr lang="en-US" sz="1650" dirty="0"/>
          </a:p>
        </p:txBody>
      </p:sp>
      <p:sp>
        <p:nvSpPr>
          <p:cNvPr id="25" name="Text 23"/>
          <p:cNvSpPr txBox="1"/>
          <p:nvPr/>
        </p:nvSpPr>
        <p:spPr>
          <a:xfrm>
            <a:off x="841248" y="48006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class balance and feature patterns across attack families.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42232" y="4768596"/>
            <a:ext cx="274320" cy="201168"/>
          </a:xfrm>
          <a:prstGeom prst="rightArrow">
            <a:avLst/>
          </a:prstGeom>
          <a:solidFill>
            <a:srgbClr val="2E93B8"/>
          </a:solidFill>
          <a:ln/>
        </p:spPr>
      </p:sp>
      <p:sp>
        <p:nvSpPr>
          <p:cNvPr id="27" name="Shape 25"/>
          <p:cNvSpPr/>
          <p:nvPr/>
        </p:nvSpPr>
        <p:spPr>
          <a:xfrm>
            <a:off x="4434840" y="397764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90872" y="4233672"/>
            <a:ext cx="384048" cy="384048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690872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212080" y="4251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/ Val / Test</a:t>
            </a:r>
            <a:endParaRPr lang="en-US" sz="1650" dirty="0"/>
          </a:p>
        </p:txBody>
      </p:sp>
      <p:sp>
        <p:nvSpPr>
          <p:cNvPr id="31" name="Text 29"/>
          <p:cNvSpPr txBox="1"/>
          <p:nvPr/>
        </p:nvSpPr>
        <p:spPr>
          <a:xfrm>
            <a:off x="4727448" y="48006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70 / 15 / 15 → 103,801 / 22,172 / 22,544 labelled records.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028432" y="4768596"/>
            <a:ext cx="274320" cy="201168"/>
          </a:xfrm>
          <a:prstGeom prst="rightArrow">
            <a:avLst/>
          </a:prstGeom>
          <a:solidFill>
            <a:srgbClr val="2E93B8"/>
          </a:solidFill>
          <a:ln/>
        </p:spPr>
      </p:sp>
      <p:sp>
        <p:nvSpPr>
          <p:cNvPr id="33" name="Shape 31"/>
          <p:cNvSpPr/>
          <p:nvPr/>
        </p:nvSpPr>
        <p:spPr>
          <a:xfrm>
            <a:off x="8321040" y="397764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577072" y="423367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77072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9098280" y="4251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&amp; predict</a:t>
            </a:r>
            <a:endParaRPr lang="en-US" sz="1650" dirty="0"/>
          </a:p>
        </p:txBody>
      </p:sp>
      <p:sp>
        <p:nvSpPr>
          <p:cNvPr id="37" name="Text 35"/>
          <p:cNvSpPr txBox="1"/>
          <p:nvPr/>
        </p:nvSpPr>
        <p:spPr>
          <a:xfrm>
            <a:off x="8613648" y="48006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RF and GBT, predict Normal vs. attack, then evaluate.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vs. Gradient-Boosted Trees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8105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4892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many decision trees independently, each on a random subset of data and features.</a:t>
            </a:r>
            <a:endParaRPr lang="en-US" sz="14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 vote; the majority class becomes the prediction.</a:t>
            </a:r>
            <a:endParaRPr lang="en-US" sz="14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&amp; averaging → low variance, strong and stable, resistant to overfitting.</a:t>
            </a:r>
            <a:endParaRPr lang="en-US" sz="14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class imbalance well via bootstrap sampling of minority classes.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5440680" cy="4434840"/>
          </a:xfrm>
          <a:prstGeom prst="roundRect">
            <a:avLst>
              <a:gd name="adj" fmla="val 1856"/>
            </a:avLst>
          </a:prstGeom>
          <a:solidFill>
            <a:srgbClr val="0E2A47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46520" y="18105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89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Gradient-Boosted Trees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33172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834640"/>
            <a:ext cx="4892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trees sequentially — each new tree corrects the errors of the previous ones.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hard, misclassified cases; combines weak learners into a strong one.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reaches higher accuracy, but is more sensitive to tuning and noise.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RF's speed/robustness for sharper error-driven precision.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144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ensembles of decision trees → higher accuracy and less overfitting than a single tree. Chosen for their proven strength on NSL-KDD.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— and Why Accuracy Alone Misleads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8745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29514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 predictions. Can look high while rare attacks are missed entirely.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34840" y="169164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90872" y="18745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4690872" y="229514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predicted attacks, how many were real — controls false alarms.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321040" y="169164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577072" y="18745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8577072" y="229514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attacks, how many were caught — critical for security.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4672" y="3566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F1-score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398678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of precision &amp; recall — the fair score under imbalance.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434840" y="338328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690872" y="3566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4690872" y="398678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breakdown showing exactly where each attack type is confused.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321040" y="338328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577072" y="3566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ROC-AUC</a:t>
            </a:r>
            <a:endParaRPr lang="en-US" sz="1650" dirty="0"/>
          </a:p>
        </p:txBody>
      </p:sp>
      <p:sp>
        <p:nvSpPr>
          <p:cNvPr id="21" name="Text 19"/>
          <p:cNvSpPr txBox="1"/>
          <p:nvPr/>
        </p:nvSpPr>
        <p:spPr>
          <a:xfrm>
            <a:off x="8577072" y="398678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Threshold-independent separability of normal vs. attack.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FCEEE0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822960" y="4937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accuracy misleads:  </a:t>
            </a:r>
            <a:pPr indent="0" marL="0">
              <a:buNone/>
            </a:pPr>
            <a:r>
              <a:rPr lang="en-US" sz="1350" dirty="0">
                <a:solidFill>
                  <a:srgbClr val="7A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U2R is ~0.04% of records. A model that labels every U2R as Normal still scores ~99.9% accuracy while catching zero U2R attacks. </a:t>
            </a:r>
            <a:pPr indent="0" marL="0">
              <a:buNone/>
            </a:pPr>
            <a:r>
              <a:rPr lang="en-US" sz="1350" b="1" dirty="0">
                <a:solidFill>
                  <a:srgbClr val="B457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F1 and the confusion matrix expose this — so we judge minority classes on those, not accuracy.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93392"/>
            <a:ext cx="457200" cy="45720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3.x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7860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the entire pipeline.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73736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199339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9087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Colab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57860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notebooks — no local setup, free GPU/CPU.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21040" y="173736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77072" y="1993392"/>
            <a:ext cx="457200" cy="45720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7707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189720" y="2011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595360" y="257860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clean and manipulate the NSL-KDD CSV data.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4672" y="41879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04672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77316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numerical operations and array handling.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34840" y="39319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90872" y="4187952"/>
            <a:ext cx="457200" cy="45720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90872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 / Seaborn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709160" y="477316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plots, class distributions, confusion-matrix heatmaps.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321040" y="39319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77072" y="4187952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577072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189720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595360" y="477316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Encoding, scaling, RandomForest &amp; GradientBoosting, all metrics.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CSV version of NSL-KDD trains and tests the models — runs on any modern browser.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vs. Gradient-Boosted Trees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1790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expected to exceed 99% overall accuracy on NSL-KDD; the real comparison is on rare-class recall, false alarms, and cost.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440680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377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— expect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4892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high, stable accuracy with minimal tuning.</a:t>
            </a:r>
            <a:endParaRPr lang="en-US" sz="14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on noisy traffic; strong baseline on DoS &amp; Probe.</a:t>
            </a:r>
            <a:endParaRPr lang="en-US" sz="14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 train (parallel trees).</a:t>
            </a:r>
            <a:endParaRPr lang="en-US" sz="14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minority-class recall via bootstrap sampling.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172200" y="2194560"/>
            <a:ext cx="5440680" cy="3749040"/>
          </a:xfrm>
          <a:prstGeom prst="roundRect">
            <a:avLst>
              <a:gd name="adj" fmla="val 2195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sx="100000" sy="100000" kx="0" ky="0" algn="bl" rotWithShape="0" blurRad="76200" dist="25400" dir="5400000">
              <a:srgbClr val="9FB2C0">
                <a:alpha val="2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4652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9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Gradient-Boosted Trees — expect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834640"/>
            <a:ext cx="4892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 higher precision/F1 on hard, rare attacks (R2L/U2R).</a:t>
            </a:r>
            <a:endParaRPr lang="en-US" sz="14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at subtle, error-prone boundaries via sequential correction.</a:t>
            </a:r>
            <a:endParaRPr lang="en-US" sz="14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training; more sensitive to hyper-parameters.</a:t>
            </a:r>
            <a:endParaRPr lang="en-US" sz="14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edge out RF where sharp error focus matters.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080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a metric-by-metric comparison table + confusion matrices naming the better model for network intrusion detection.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440680" cy="4023360"/>
          </a:xfrm>
          <a:prstGeom prst="roundRect">
            <a:avLst>
              <a:gd name="adj" fmla="val 2045"/>
            </a:avLst>
          </a:prstGeom>
          <a:solidFill>
            <a:srgbClr val="16395E"/>
          </a:solidFill>
          <a:ln w="12700">
            <a:solidFill>
              <a:srgbClr val="2C4E7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488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9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6060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IDS adapts to novel attacks where signature-based systems fail.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NSL-KDD is a clean, unbiased benchmark — no redundant records, better spread of difficulty.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ensembles (RF, GBT) are the strongest, most reliable classifiers on this data.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rigorous RF-vs-GBT comparison, judged beyond accuracy, guides the better choice for real IDS.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965960"/>
            <a:ext cx="5440680" cy="4023360"/>
          </a:xfrm>
          <a:prstGeom prst="roundRect">
            <a:avLst>
              <a:gd name="adj" fmla="val 2045"/>
            </a:avLst>
          </a:prstGeom>
          <a:solidFill>
            <a:srgbClr val="16395E"/>
          </a:solidFill>
          <a:ln w="12700">
            <a:solidFill>
              <a:srgbClr val="2C4E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21488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9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60604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optimisation / hyper-parameter tuning for even better detection.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stacked / hybrid ensembles combining multiple algorithms.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targeted feature-selection to further cut computational cost.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imbalance for U2R/R2L (SMOTE, class weighting).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CF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real-time and wireless / mobile network intrusion detection.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CFE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·  Questions welcome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2026-08-29T04:58:30Z</dcterms:created>
  <dcterms:modified xsi:type="dcterms:W3CDTF">2026-08-29T04:58:30Z</dcterms:modified>
</cp:coreProperties>
</file>